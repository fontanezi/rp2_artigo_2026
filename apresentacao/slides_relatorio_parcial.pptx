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4"/>
  </p:normalViewPr>
  <p:slideViewPr>
    <p:cSldViewPr snapToGrid="0" snapToObjects="1">
      <p:cViewPr varScale="1">
        <p:scale>
          <a:sx n="114" d="100"/>
          <a:sy n="114" d="100"/>
        </p:scale>
        <p:origin x="6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0036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[Todos (abertura) | tempo-alvo: 0:15]</a:t>
            </a:r>
          </a:p>
          <a:p>
            <a:endParaRPr/>
          </a:p>
          <a:p>
            <a:r>
              <a:t>Apresentar o título e os integrantes. Uma frase: 'a pergunta é se dá para antecipar, com o que se sabe no momento da notificação, se uma ocorrência é um incidente, um incidente grave ou um acidente'.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[Integrante 1 | tempo-alvo: 0:35]</a:t>
            </a:r>
          </a:p>
          <a:p>
            <a:endParaRPr/>
          </a:p>
          <a:p>
            <a:r>
              <a:t>Situar o setor (RBAC 121 e 135), a fonte (CENIPA) e a lacuna: análise retrospectiva, nenhum modelo que classifique a severidade de um evento individual. Terminar enunciando a pergunta do trabalho.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[Integrante 1 | tempo-alvo: 0:40]</a:t>
            </a:r>
          </a:p>
          <a:p>
            <a:endParaRPr/>
          </a:p>
          <a:p>
            <a:r>
              <a:t>Ler o objetivo. Depois as três definições, com ênfase em 'a diferença entre incidente grave e acidente está apenas nas consequências'. Fechar com a justificativa de manter as três classes separadas em vez de agrupar incidente grave com incidente.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[Integrante 1 | tempo-alvo: 0:35]</a:t>
            </a:r>
          </a:p>
          <a:p>
            <a:endParaRPr/>
          </a:p>
          <a:p>
            <a:r>
              <a:t>Um trabalho de séries temporais (Reinert) e dois descritivos sobre meteorologia (Soares; Barros e Balero). Destacar a última coluna: o que este trabalho faz que eles não fazem. Não ler a tabela inteira.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[Integrante 2 | tempo-alvo: 0:35]</a:t>
            </a:r>
          </a:p>
          <a:p>
            <a:endParaRPr/>
          </a:p>
          <a:p>
            <a:r>
              <a:t>Funil de construção da base (três números). Depois o desbalanceamento: menos de 2% de acidentes. Justificar o escopo com os três motivos, em especial os 12 acidentes da operação regular.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[Integrante 2 | tempo-alvo: 0:40]</a:t>
            </a:r>
          </a:p>
          <a:p>
            <a:endParaRPr/>
          </a:p>
          <a:p>
            <a:r>
              <a:t>Este é o achado metodológico central. Mostrar na tabela que relatório, fatores e recomendações existem em 61–68% dos acidentes, 44–45% dos incidentes graves e 0,1% dos incidentes: usar isso seria trapaça. Listar rapidamente o que ficou como preditor.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[Integrante 2 | tempo-alvo: 0:45]</a:t>
            </a:r>
          </a:p>
          <a:p>
            <a:endParaRPr/>
          </a:p>
          <a:p>
            <a:r>
              <a:t>Percorrer o fluxo da esquerda para a direita. Explicar por que o número principal é a validação cruzada (18 acidentes no teste: cada erro move a sensibilidade em 5,6 pontos). Dizer que F1-macro é o critério de seleção e que acurácia não serve. Apresentar os dois baselines: todo modelo tem que bater a regra do tipo de operação.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[Integrante 3 | tempo-alvo: 0:30]</a:t>
            </a:r>
          </a:p>
          <a:p>
            <a:endParaRPr/>
          </a:p>
          <a:p>
            <a:r>
              <a:t>O tipo de operação é o atributo que mais separa as classes: regular 0,28% de acidentes, táxi aéreo 11%. Aeronaves a pistão, monomotoras e helicópteros seguem o padrão. Avisar da colinearidade: esses atributos descrevem o mesmo subgrupo, o que vai aparecer na interpretação da Regressão Logística.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[Integrante 3 | tempo-alvo: 0:30]</a:t>
            </a:r>
          </a:p>
          <a:p>
            <a:endParaRPr/>
          </a:p>
          <a:p>
            <a:r>
              <a:t>Mostrar que incidente grave e acidente vêm de tipos diferentes: tráfego aéreo gera 21 incidentes graves e nenhum acidente; falha do motor em voo gera 14 acidentes e nenhum incidente grave. Esse é o argumento empírico das três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[Integrante 3 | tempo-alvo: 0:30]</a:t>
            </a:r>
          </a:p>
          <a:p>
            <a:endParaRPr/>
          </a:p>
          <a:p>
            <a:r>
              <a:t>Apontar a descontinuidade em 2023 no painel de cima e a estabilidade dos acidentes no painel de baixo. Conclusão: é mudança de cobertura das notificações, e o ano não pode ser preditor.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[Integrante 3 | tempo-alvo: 0:25]</a:t>
            </a:r>
          </a:p>
          <a:p>
            <a:endParaRPr/>
          </a:p>
          <a:p>
            <a:r>
              <a:t>Norte concentra acidentes, e isso reflete a operação (táxi aéreo). O local separa as duas classes graves: incidentes graves acontecem nos grandes aeródromos, acidentes fora de aeródromo.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[Integrante 1 ou 2 | tempo-alvo: 0:30]</a:t>
            </a:r>
          </a:p>
          <a:p>
            <a:endParaRPr/>
          </a:p>
          <a:p>
            <a:r>
              <a:t>Ler só as linhas destacadas (†). Explicar a troca sensibilidade × precisão na Regressão Logística com pesos. No Random Forest o balanceamento ajuda sem destruir a precisão. Mencionar que SMOTENC + pesos é idêntico ao SMOTENC, e por quê.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[Integrante 1 ou 2 | tempo-alvo: 0:45]</a:t>
            </a:r>
          </a:p>
          <a:p>
            <a:endParaRPr/>
          </a:p>
          <a:p>
            <a:r>
              <a:t>Este é o slide central dos resultados. Primeiro os baselines (acurácia enganosa; regra com alta sensibilidade e precisão baixíssima). Depois o Random Forest, linha destacada: 60% dos acidentes com 46% de precisão e 43% dos incidentes graves. Fechar com o teste confirmando a ordem.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[Integrante 1 ou 2 | tempo-alvo: 0:30]</a:t>
            </a:r>
          </a:p>
          <a:p>
            <a:endParaRPr/>
          </a:p>
          <a:p>
            <a:r>
              <a:t>Ler a diagonal do Random Forest (97%, 43%, 60%) e explicar o custo: 107 incidentes classificados acima do que são, 2,8% deles. Na Regressão Logística a coluna 'inc. grave' está quase vazia.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[Integrante 1 ou 2 | tempo-alvo: 0:30]</a:t>
            </a:r>
          </a:p>
          <a:p>
            <a:endParaRPr/>
          </a:p>
          <a:p>
            <a:r>
              <a:t>As curvas mostram o desempenho sem depender do limiar de decisão. Ponto honesto: na sensibilidade da regra, o ganho de precisão é pequeno; o modelo vale mais na faixa intermediária. O ajuste de limiar é o próximo passo.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[Integrante 1 ou 2 | tempo-alvo: 0:35]</a:t>
            </a:r>
          </a:p>
          <a:p>
            <a:endParaRPr/>
          </a:p>
          <a:p>
            <a:r>
              <a:t>Random Forest confirma a análise exploratória: operação, peso, fase, local, tipo. Calendário não serve. Na Regressão Logística, mostrar os maiores contrastes e explicar o sinal 'errado' de Cessna/Sikorsky/Embraer pela colinearidade: a taxa marginal deles já está explicada por operação, motor e peso.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[Integrante 3 (fechamento) | tempo-alvo: 0:40]</a:t>
            </a:r>
          </a:p>
          <a:p>
            <a:endParaRPr/>
          </a:p>
          <a:p>
            <a:r>
              <a:t>Resumir em quatro frases o que foi feito e o melhor resultado. Declarar as limitações antes que perguntem. Listar os próximos passos até 18/11. Encerrar agradecendo.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0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1828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Previsão da severidade de ocorrências aeronáuticas na aviação comercial brasileira (RBAC 121 e 135)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11094415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0" dirty="0">
                <a:solidFill>
                  <a:srgbClr val="C9D6EE"/>
                </a:solidFill>
                <a:latin typeface="Calibri"/>
              </a:rPr>
              <a:t>RP2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200" b="1" i="0" dirty="0">
                <a:solidFill>
                  <a:srgbClr val="1A1A1A"/>
                </a:solidFill>
                <a:latin typeface="Calibri"/>
              </a:rPr>
              <a:t>Eric I. W. Chou · João Fontanezi · Marcos R. da S. Santos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1094415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 dirty="0">
                <a:solidFill>
                  <a:srgbClr val="595959"/>
                </a:solidFill>
                <a:latin typeface="Calibri"/>
              </a:rPr>
              <a:t>Escola de Artes, </a:t>
            </a:r>
            <a:r>
              <a:rPr sz="1600" b="0" i="0" dirty="0" err="1">
                <a:solidFill>
                  <a:srgbClr val="595959"/>
                </a:solidFill>
                <a:latin typeface="Calibri"/>
              </a:rPr>
              <a:t>Ciências</a:t>
            </a:r>
            <a:r>
              <a:rPr sz="1600" b="0" i="0" dirty="0">
                <a:solidFill>
                  <a:srgbClr val="595959"/>
                </a:solidFill>
                <a:latin typeface="Calibri"/>
              </a:rPr>
              <a:t> e </a:t>
            </a:r>
            <a:r>
              <a:rPr sz="1600" b="0" i="0" dirty="0" err="1">
                <a:solidFill>
                  <a:srgbClr val="595959"/>
                </a:solidFill>
                <a:latin typeface="Calibri"/>
              </a:rPr>
              <a:t>Humanidades</a:t>
            </a:r>
            <a:r>
              <a:rPr sz="16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lang="pt-BR" sz="1600" b="0" i="0" dirty="0">
                <a:solidFill>
                  <a:srgbClr val="595959"/>
                </a:solidFill>
                <a:latin typeface="Calibri"/>
              </a:rPr>
              <a:t>-</a:t>
            </a:r>
            <a:r>
              <a:rPr sz="16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95959"/>
                </a:solidFill>
                <a:latin typeface="Calibri"/>
              </a:rPr>
              <a:t>Universidade</a:t>
            </a:r>
            <a:r>
              <a:rPr sz="1600" b="0" i="0" dirty="0">
                <a:solidFill>
                  <a:srgbClr val="595959"/>
                </a:solidFill>
                <a:latin typeface="Calibri"/>
              </a:rPr>
              <a:t> de São Paulo (EACH-USP)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0"/>
            <a:ext cx="11094415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Dados abertos do CENIPA / Painel SIPAER · Regressão Logística e Random Forest · github.com/Fontanezi/RP2_ARTIGO_2026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F3B73"/>
                </a:solidFill>
                <a:latin typeface="Calibri"/>
              </a:rPr>
              <a:t>Contexto e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2575" y="164592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Calibri"/>
              </a:rPr>
              <a:t>Parte 1 · Introdução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18001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Previsão da severidade de ocorrências aeronáuticas na aviação comercial brasileira · Relatório parcial · RP2 EACH-USP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2/17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94415" cy="498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Transporte aéreo público no Brasil: </a:t>
            </a:r>
            <a:r>
              <a:rPr sz="1900" b="1">
                <a:solidFill>
                  <a:srgbClr val="1A1A1A"/>
                </a:solidFill>
                <a:latin typeface="Calibri"/>
              </a:rPr>
              <a:t>RBAC 121</a:t>
            </a:r>
            <a:r>
              <a:rPr sz="1900" b="0">
                <a:solidFill>
                  <a:srgbClr val="1A1A1A"/>
                </a:solidFill>
                <a:latin typeface="Calibri"/>
              </a:rPr>
              <a:t> (aviões com mais de 19 assentos) e </a:t>
            </a:r>
            <a:r>
              <a:rPr sz="1900" b="1">
                <a:solidFill>
                  <a:srgbClr val="1A1A1A"/>
                </a:solidFill>
                <a:latin typeface="Calibri"/>
              </a:rPr>
              <a:t>RBAC 135</a:t>
            </a:r>
            <a:r>
              <a:rPr sz="1900" b="0">
                <a:solidFill>
                  <a:srgbClr val="1A1A1A"/>
                </a:solidFill>
                <a:latin typeface="Calibri"/>
              </a:rPr>
              <a:t> (até 19 assentos ou helicópteros: táxi aéreo e operação não regular)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O </a:t>
            </a:r>
            <a:r>
              <a:rPr sz="1900" b="1">
                <a:solidFill>
                  <a:srgbClr val="1A1A1A"/>
                </a:solidFill>
                <a:latin typeface="Calibri"/>
              </a:rPr>
              <a:t>CENIPA</a:t>
            </a:r>
            <a:r>
              <a:rPr sz="1900" b="0">
                <a:solidFill>
                  <a:srgbClr val="1A1A1A"/>
                </a:solidFill>
                <a:latin typeface="Calibri"/>
              </a:rPr>
              <a:t> investiga e publica todas as ocorrências no Painel SIPAER e em dados.gov.br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A análise usual desses registros é </a:t>
            </a:r>
            <a:r>
              <a:rPr sz="1900" b="1">
                <a:solidFill>
                  <a:srgbClr val="1A1A1A"/>
                </a:solidFill>
                <a:latin typeface="Calibri"/>
              </a:rPr>
              <a:t>retrospectiva e caso a caso</a:t>
            </a:r>
            <a:r>
              <a:rPr sz="1900" b="0">
                <a:solidFill>
                  <a:srgbClr val="1A1A1A"/>
                </a:solidFill>
                <a:latin typeface="Calibri"/>
              </a:rPr>
              <a:t>: explica o que aconteceu, não antecipa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A literatura nacional traz séries temporais agregadas e estudos descritivos, mas </a:t>
            </a:r>
            <a:r>
              <a:rPr sz="1900" b="1">
                <a:solidFill>
                  <a:srgbClr val="1A1A1A"/>
                </a:solidFill>
                <a:latin typeface="Calibri"/>
              </a:rPr>
              <a:t>não classifica a severidade de uma ocorrência individual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Pergunta do trabalho: com os atributos conhecidos no momento da notificação, é possível estimar a probabilidade de a ocorrência ser </a:t>
            </a:r>
            <a:r>
              <a:rPr sz="1900" b="1">
                <a:solidFill>
                  <a:srgbClr val="1A1A1A"/>
                </a:solidFill>
                <a:latin typeface="Calibri"/>
              </a:rPr>
              <a:t>incidente, incidente grave ou acidente</a:t>
            </a:r>
            <a:r>
              <a:rPr sz="1900" b="0">
                <a:solidFill>
                  <a:srgbClr val="1A1A1A"/>
                </a:solidFill>
                <a:latin typeface="Calibri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F3B73"/>
                </a:solidFill>
                <a:latin typeface="Calibri"/>
              </a:rPr>
              <a:t>Objetivo e as três classes do CENIPA (NSCA 3-13)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2575" y="164592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Calibri"/>
              </a:rPr>
              <a:t>Parte 1 · Introdução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18001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Previsão da severidade de ocorrências aeronáuticas na aviação comercial brasileira · Relatório parcial · RP2 EACH-USP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3/17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94415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Objetivo:</a:t>
            </a:r>
            <a:r>
              <a:rPr sz="1800" b="0">
                <a:solidFill>
                  <a:srgbClr val="1A1A1A"/>
                </a:solidFill>
                <a:latin typeface="Calibri"/>
              </a:rPr>
              <a:t> desenvolver e comparar modelos de Aprendizado de Máquina (Regressão Logística e Random Forest) para classificar a severidade de ocorrências da aviação comercial, usando apenas atributos disponíveis antes da investigação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23160"/>
            <a:ext cx="3515258" cy="502920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Acidente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26080"/>
            <a:ext cx="3515258" cy="2377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3332378" cy="2194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Lesão grave ou morte, dano ou falha estrutural que afete a resistência ou o desempenho da aeronave (ou exija grande reparo), aeronave desaparecida ou inacessível. Exceções: danos localizados (um motor, hélices, pneus, colisão com fauna).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6778" y="2423160"/>
            <a:ext cx="3515258" cy="502920"/>
          </a:xfrm>
          <a:prstGeom prst="rect">
            <a:avLst/>
          </a:prstGeom>
          <a:solidFill>
            <a:srgbClr val="E39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Incidente grave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6778" y="2926080"/>
            <a:ext cx="3515258" cy="2377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38218" y="3017520"/>
            <a:ext cx="3332378" cy="2194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Incidente cujas circunstâncias indicam elevado potencial de risco de acidente. A diferença para o acidente está apenas nas consequências: é o quase-acidente.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44916" y="2423160"/>
            <a:ext cx="3515258" cy="502920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Incidente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44916" y="2926080"/>
            <a:ext cx="3515258" cy="2377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36356" y="3017520"/>
            <a:ext cx="3332378" cy="2194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Toda ocorrência que não se caracteriza como acidente, mas que afeta ou pode afetar a segurança da operação.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Por que três classes e não duas? As definições separam o incidente grave pelo potencial de risco, não pela consequência; e os dados mostram perfis diferentes (slide 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F3B73"/>
                </a:solidFill>
                <a:latin typeface="Calibri"/>
              </a:rPr>
              <a:t>Trabalhos correlatos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2575" y="164592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Calibri"/>
              </a:rPr>
              <a:t>Parte 1 · Introdução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18001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Previsão da severidade de ocorrências aeronáuticas na aviação comercial brasileira · Relatório parcial · RP2 EACH-USP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4/17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94413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5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3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6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Referência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Dados utilizados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Contribuição deste trabalho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Reinert (2023)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Ajuste de curvas e ARIMA sobre séries anuais agregadas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SIPAER 2012–2022, aviões Ipanema e Sêneca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Classifica cada ocorrência individual em três classes com atributos pré-investigação; cobre todo o transporte aéreo comercial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Soares (2012)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Análise sinótica qualitativa de casos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Acidentes dos anos 1990 associados à meteorologia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Quantifica o risco com modelos discriminativos validados por métricas; meteorologia é uma das categorias de tipo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Barros e Balero (2012)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Pesquisa bibliográfica e estatística descritiva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Estações meteorológicas do Centro-Oeste e estatísticas do SIPAER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Abrangência nacional com a região como preditor; avaliação fora da amostra com baselines explícitos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983479"/>
            <a:ext cx="11094415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1F3B73"/>
                </a:solidFill>
                <a:latin typeface="Calibri"/>
              </a:rPr>
              <a:t>Em comum: nenhum dos trabalhos estima a severidade de uma ocorrência individual a partir de atributos operacionais, geográficos e técnicos. É essa a lacuna que este trabalho ataca.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F3B73"/>
                </a:solidFill>
                <a:latin typeface="Calibri"/>
              </a:rPr>
              <a:t>Dados: construção da base e escopo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2575" y="164592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Calibri"/>
              </a:rPr>
              <a:t>Parte 2 · 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18001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Previsão da severidade de ocorrências aeronáuticas na aviação comercial brasileira · Relatório parcial · RP2 EACH-USP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5/17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338328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338328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3200" b="1" i="0">
                <a:solidFill>
                  <a:srgbClr val="1F3B73"/>
                </a:solidFill>
                <a:latin typeface="Calibri"/>
              </a:rPr>
              <a:t>14.626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320040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  <a:latin typeface="Calibri"/>
              </a:rPr>
              <a:t>ocorrências nos arquivos do CENIPA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600200"/>
            <a:ext cx="36576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800" b="0" i="0">
                <a:solidFill>
                  <a:srgbClr val="595959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234440"/>
            <a:ext cx="338328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79" y="1325880"/>
            <a:ext cx="338328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3200" b="1" i="0">
                <a:solidFill>
                  <a:srgbClr val="1F3B73"/>
                </a:solidFill>
                <a:latin typeface="Calibri"/>
              </a:rPr>
              <a:t>9.471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19" y="1965960"/>
            <a:ext cx="320040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  <a:latin typeface="Calibri"/>
              </a:rPr>
              <a:t>entre 10/05/2016 e 09/05/2026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59" y="1600200"/>
            <a:ext cx="36576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800" b="0" i="0">
                <a:solidFill>
                  <a:srgbClr val="595959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8" y="1234440"/>
            <a:ext cx="3383280" cy="1371600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8" y="1325880"/>
            <a:ext cx="338328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5.038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8" y="1965960"/>
            <a:ext cx="320040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com aeronave em operação regular, não regular ou táxi aéreo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880360"/>
            <a:ext cx="11094415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Cruzamento das tabelas de Ocorrências, Tipos, Aeronaves, Fatores Contribuintes e Recomendações pelo código da ocorrência; </a:t>
            </a:r>
            <a:r>
              <a:rPr sz="1700" b="1">
                <a:solidFill>
                  <a:srgbClr val="1A1A1A"/>
                </a:solidFill>
                <a:latin typeface="Calibri"/>
              </a:rPr>
              <a:t>uma linha por ocorrência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Classes: </a:t>
            </a:r>
            <a:r>
              <a:rPr sz="1700" b="1">
                <a:solidFill>
                  <a:srgbClr val="1A1A1A"/>
                </a:solidFill>
                <a:latin typeface="Calibri"/>
              </a:rPr>
              <a:t>4.845 incidentes (96,2%) · 102 incidentes graves (2,0%) · 91 acidentes (1,8%)</a:t>
            </a:r>
            <a:r>
              <a:rPr sz="1700" b="0">
                <a:solidFill>
                  <a:srgbClr val="1A1A1A"/>
                </a:solidFill>
                <a:latin typeface="Calibri"/>
              </a:rPr>
              <a:t>; 17 acidentes com vítimas fatais, 122 mortes (62 em Vinhedo, 2024)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Escopo = todo o transporte aéreo comercial (RBAC 121 + 135). Por quê? Mesma família regulatória; a operação regular sozinha tem só </a:t>
            </a:r>
            <a:r>
              <a:rPr sz="1700" b="1">
                <a:solidFill>
                  <a:srgbClr val="1A1A1A"/>
                </a:solidFill>
                <a:latin typeface="Calibri"/>
              </a:rPr>
              <a:t>12 acidentes</a:t>
            </a:r>
            <a:r>
              <a:rPr sz="1700" b="0">
                <a:solidFill>
                  <a:srgbClr val="1A1A1A"/>
                </a:solidFill>
                <a:latin typeface="Calibri"/>
              </a:rPr>
              <a:t>, insuficiente para aprender; e o tipo de operação entra como preditor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Base publicada com dicionário de dados: 5.038 linhas × 44 colunas (BASE_SIPAER.xlsx)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F3B73"/>
                </a:solidFill>
                <a:latin typeface="Calibri"/>
              </a:rPr>
              <a:t>Vazamento de informação: o que não pode ser preditor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2575" y="164592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Calibri"/>
              </a:rPr>
              <a:t>Parte 2 · 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18001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Previsão da severidade de ocorrências aeronáuticas na aviação comercial brasileira · Relatório parcial · RP2 EACH-USP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6/17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676655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1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8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88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Atributo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Acidentes (91)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Inc. graves (102)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Incidentes (4.845)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Dano substancial ou aeronave destruída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84 (92,3%)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 (2,0%)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 (0,0%)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Relatório final publicado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62 (68,1%)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46 (45,1%)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5 (0,1%)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Fatores contribuintes registrados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56 (61,5%)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45 (44,1%)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 (0,1%)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Recomendações de segurança emitidas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19 (20,9%)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29 (28,4%)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 (0,0%)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Investigação ainda ativa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28 (30,8%)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30 (29,4%)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7 (0,1%)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840480"/>
            <a:ext cx="676656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Atributos produzidos pela investigação, por classe. A investigação completa é feita quase só em acidentes e incidentes graves: esses atributos entregariam a resposta ao modelo.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234440"/>
            <a:ext cx="4053535" cy="498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Fora dos preditores:</a:t>
            </a:r>
            <a:r>
              <a:rPr sz="1500" b="0">
                <a:solidFill>
                  <a:srgbClr val="1A1A1A"/>
                </a:solidFill>
                <a:latin typeface="Calibri"/>
              </a:rPr>
              <a:t> nível de dano, fatalidades, situação da investigação, relatório final, fatores contribuintes, recomendações; e o ano (mudança de cobertura em 2023)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Preditores (disponíveis na notificação):</a:t>
            </a:r>
            <a:r>
              <a:rPr sz="1500" b="0">
                <a:solidFill>
                  <a:srgbClr val="1A1A1A"/>
                </a:solidFill>
                <a:latin typeface="Calibri"/>
              </a:rPr>
              <a:t> tipo de operação, equipamento, tipo e quantidade de motores, fabricante, peso máximo de decolagem, assentos, idade, fase do voo, região, local, categoria do tipo de ocorrência, saída de pista, aeronaves envolvidas, mês, dia da semana, hora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Aeródromo (203 níveis) e tipo detalhado (65) entram agrupados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F3B73"/>
                </a:solidFill>
                <a:latin typeface="Calibri"/>
              </a:rPr>
              <a:t>Pipeline e protocolo de avaliação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2575" y="164592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Calibri"/>
              </a:rPr>
              <a:t>Parte 2 · 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18001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Previsão da severidade de ocorrências aeronáuticas na aviação comercial brasileira · Relatório parcial · RP2 EACH-USP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7/17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246888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246888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Imputação
(mediana / moda)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371600"/>
            <a:ext cx="36576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600" b="0" i="0">
                <a:solidFill>
                  <a:srgbClr val="595959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234440"/>
            <a:ext cx="246888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234440"/>
            <a:ext cx="246888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SMOTENC
(só no treino)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371600"/>
            <a:ext cx="36576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600" b="0" i="0">
                <a:solidFill>
                  <a:srgbClr val="595959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246888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234440"/>
            <a:ext cx="246888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Padronização
+ one-hot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371600"/>
            <a:ext cx="36576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600" b="0" i="0">
                <a:solidFill>
                  <a:srgbClr val="595959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234440"/>
            <a:ext cx="2834640" cy="914400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60" y="1234440"/>
            <a:ext cx="283464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Regressão Logística
multinomial  ·  Random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194560"/>
            <a:ext cx="11094415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Tudo ajustado apenas nas dobras de treino, nunca nos dados avaliados.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651760"/>
            <a:ext cx="566928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Partição 80/20 estratificada:</a:t>
            </a:r>
            <a:r>
              <a:rPr sz="1500" b="0">
                <a:solidFill>
                  <a:srgbClr val="1A1A1A"/>
                </a:solidFill>
                <a:latin typeface="Calibri"/>
              </a:rPr>
              <a:t> treino 4.030 (3.876 / 81 / 73), teste 1.008 (969 / 21 / 18)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Hiperparâmetros:</a:t>
            </a:r>
            <a:r>
              <a:rPr sz="1500" b="0">
                <a:solidFill>
                  <a:srgbClr val="1A1A1A"/>
                </a:solidFill>
                <a:latin typeface="Calibri"/>
              </a:rPr>
              <a:t> busca em grade com validação cruzada estratificada (k = 5) no treino, maximizando F1-macro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Resultado principal:</a:t>
            </a:r>
            <a:r>
              <a:rPr sz="1500" b="0">
                <a:solidFill>
                  <a:srgbClr val="1A1A1A"/>
                </a:solidFill>
                <a:latin typeface="Calibri"/>
              </a:rPr>
              <a:t> predições out-of-fold no treino (73 acidentes); teste (18 acidentes) como confirmação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Balanceamento, 4 estratégias:</a:t>
            </a:r>
            <a:r>
              <a:rPr sz="1500" b="0">
                <a:solidFill>
                  <a:srgbClr val="1A1A1A"/>
                </a:solidFill>
                <a:latin typeface="Calibri"/>
              </a:rPr>
              <a:t> nenhum · pesos de classe · SMOTENC · SMOTENC + pesos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51760"/>
            <a:ext cx="5150815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Métricas:</a:t>
            </a:r>
            <a:r>
              <a:rPr sz="1500" b="0">
                <a:solidFill>
                  <a:srgbClr val="1A1A1A"/>
                </a:solidFill>
                <a:latin typeface="Calibri"/>
              </a:rPr>
              <a:t> sensibilidade, precisão e F1 por classe; F1-macro; acurácia balanceada; AUC-ROC e precisão média (um-contra-resto); matriz de confusão 3×3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Acurácia só como referência: prever sempre 'incidente' acerta 96,2%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Dois baselines:</a:t>
            </a:r>
            <a:r>
              <a:rPr sz="1500" b="0">
                <a:solidFill>
                  <a:srgbClr val="1A1A1A"/>
                </a:solidFill>
                <a:latin typeface="Calibri"/>
              </a:rPr>
              <a:t> classe majoritária; regra 'táxi aéreo ou não regular ⇒ acidente'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Interpretação:</a:t>
            </a:r>
            <a:r>
              <a:rPr sz="1500" b="0">
                <a:solidFill>
                  <a:srgbClr val="1A1A1A"/>
                </a:solidFill>
                <a:latin typeface="Calibri"/>
              </a:rPr>
              <a:t> razões de chance (LR) e importância por permutação (RF)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F3B73"/>
                </a:solidFill>
                <a:latin typeface="Calibri"/>
              </a:rPr>
              <a:t>Resultados · Operação e aeronave separam as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2575" y="164592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Calibri"/>
              </a:rPr>
              <a:t>Parte 3 · Resultados parciais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18001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Previsão da severidade de ocorrências aeronáuticas na aviação comercial brasileira · Relatório parcial · RP2 EACH-USP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8/17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6949437" cy="46908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5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6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64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9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9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Atributo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Ocorrências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Inc. graves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Acidentes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% inc. graves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% acidentes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603">
                <a:tc gridSpan="6">
                  <a:txBody>
                    <a:bodyPr/>
                    <a:lstStyle/>
                    <a:p>
                      <a:pPr algn="l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Tipo de operação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    Regular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4.302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1,00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0,28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    Não regular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10,23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7,95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    Táxi aéreo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648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7,72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11,11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603">
                <a:tc gridSpan="6">
                  <a:txBody>
                    <a:bodyPr/>
                    <a:lstStyle/>
                    <a:p>
                      <a:pPr algn="l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Tipo de motor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    Jato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3.702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1,16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0,32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    Turboélice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775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2,45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2,19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    Turboeixo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352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2,84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4,83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    Pistão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199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14,57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22,61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0603">
                <a:tc gridSpan="6">
                  <a:txBody>
                    <a:bodyPr/>
                    <a:lstStyle/>
                    <a:p>
                      <a:pPr algn="l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Equipamento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    Avião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4.610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1,97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1,34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    Helicóptero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375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2,93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7,47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0603">
                <a:tc gridSpan="6">
                  <a:txBody>
                    <a:bodyPr/>
                    <a:lstStyle/>
                    <a:p>
                      <a:pPr algn="l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Fase do voo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    Solo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547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1,10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    Decolagem e subida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1.651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1,15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    Cruzeiro e descida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1.027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1,36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2,73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    Aproximação e pouso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1.770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3,73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2,37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0" y="1234440"/>
            <a:ext cx="3870655" cy="498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Operação regular: 85% das ocorrências, </a:t>
            </a:r>
            <a:r>
              <a:rPr sz="1400" b="1">
                <a:solidFill>
                  <a:srgbClr val="1A1A1A"/>
                </a:solidFill>
                <a:latin typeface="Calibri"/>
              </a:rPr>
              <a:t>0,28%</a:t>
            </a:r>
            <a:r>
              <a:rPr sz="1400" b="0">
                <a:solidFill>
                  <a:srgbClr val="1A1A1A"/>
                </a:solidFill>
                <a:latin typeface="Calibri"/>
              </a:rPr>
              <a:t> de acidentes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Táxi aéreo: 13% das ocorrências, </a:t>
            </a:r>
            <a:r>
              <a:rPr sz="1400" b="1">
                <a:solidFill>
                  <a:srgbClr val="1A1A1A"/>
                </a:solidFill>
                <a:latin typeface="Calibri"/>
              </a:rPr>
              <a:t>72 dos 91 acidentes</a:t>
            </a:r>
            <a:r>
              <a:rPr sz="1400" b="0">
                <a:solidFill>
                  <a:srgbClr val="1A1A1A"/>
                </a:solidFill>
                <a:latin typeface="Calibri"/>
              </a:rPr>
              <a:t> (11,1%)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Pistão 22,6% vs. jato 0,32%; helicóptero 7,5% vs. avião 1,3%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Idade mediana: 11 anos (incidente), 16 (inc. grave), </a:t>
            </a:r>
            <a:r>
              <a:rPr sz="1400" b="1">
                <a:solidFill>
                  <a:srgbClr val="1A1A1A"/>
                </a:solidFill>
                <a:latin typeface="Calibri"/>
              </a:rPr>
              <a:t>32 (acidente)</a:t>
            </a:r>
            <a:r>
              <a:rPr sz="1400" b="0">
                <a:solidFill>
                  <a:srgbClr val="1A1A1A"/>
                </a:solidFill>
                <a:latin typeface="Calibri"/>
              </a:rPr>
              <a:t>; peso mediano: 70,5 t, 7,3 t, </a:t>
            </a:r>
            <a:r>
              <a:rPr sz="1400" b="1">
                <a:solidFill>
                  <a:srgbClr val="1A1A1A"/>
                </a:solidFill>
                <a:latin typeface="Calibri"/>
              </a:rPr>
              <a:t>2,2 t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Nenhum acidente em solo; incidentes graves concentram-se na aproximação e pouso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Atenção: táxi aéreo, pistão, helicóptero e aeronave leve e antiga são </a:t>
            </a:r>
            <a:r>
              <a:rPr sz="1400" b="1">
                <a:solidFill>
                  <a:srgbClr val="1A1A1A"/>
                </a:solidFill>
                <a:latin typeface="Calibri"/>
              </a:rPr>
              <a:t>o mesmo subgrupo</a:t>
            </a:r>
            <a:r>
              <a:rPr sz="1400" b="0">
                <a:solidFill>
                  <a:srgbClr val="1A1A1A"/>
                </a:solidFill>
                <a:latin typeface="Calibri"/>
              </a:rPr>
              <a:t> (colinearidade)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F3B73"/>
                </a:solidFill>
                <a:latin typeface="Calibri"/>
              </a:rPr>
              <a:t>Resultados · Tipos de ocorrência: perfis distintos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2575" y="164592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Calibri"/>
              </a:rPr>
              <a:t>Parte 3 · Resultados parciais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18001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Previsão da severidade de ocorrências aeronáuticas na aviação comercial brasileira · Relatório parcial · RP2 EACH-USP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9/17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7680956" cy="3358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6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1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94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4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48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02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Ocorrências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Inc. graves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% inc. gr.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Acidentes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% acid.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Falha técnica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2.512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49,9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1,15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1,35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Colisão com fauna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1.767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35,1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0,06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Pista, pouso e solo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6,4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12,69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9,91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Tráfego aéreo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193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3,8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10,88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Meteorologia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1,06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3,19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Perda de controle / colisão em voo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0,4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25,00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60,00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Outros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129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2,6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3,88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6,98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5.038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100,0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2,02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1,81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503919" y="1234440"/>
            <a:ext cx="3139136" cy="498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Falha técnica + fauna = 85% das ocorrências; </a:t>
            </a:r>
            <a:r>
              <a:rPr sz="1400" b="1">
                <a:solidFill>
                  <a:srgbClr val="1A1A1A"/>
                </a:solidFill>
                <a:latin typeface="Calibri"/>
              </a:rPr>
              <a:t>colisão com fauna quase nunca é grave</a:t>
            </a:r>
            <a:r>
              <a:rPr sz="1400" b="0">
                <a:solidFill>
                  <a:srgbClr val="1A1A1A"/>
                </a:solidFill>
                <a:latin typeface="Calibri"/>
              </a:rPr>
              <a:t> (0 e 1 em 1.767)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</a:t>
            </a:r>
            <a:r>
              <a:rPr sz="1400" b="1">
                <a:solidFill>
                  <a:srgbClr val="1A1A1A"/>
                </a:solidFill>
                <a:latin typeface="Calibri"/>
              </a:rPr>
              <a:t>Acidente:</a:t>
            </a:r>
            <a:r>
              <a:rPr sz="1400" b="0">
                <a:solidFill>
                  <a:srgbClr val="1A1A1A"/>
                </a:solidFill>
                <a:latin typeface="Calibri"/>
              </a:rPr>
              <a:t> falha do motor em voo (14 acidentes, 0 inc. graves em 122) e perda de controle (60%)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</a:t>
            </a:r>
            <a:r>
              <a:rPr sz="1400" b="1">
                <a:solidFill>
                  <a:srgbClr val="1A1A1A"/>
                </a:solidFill>
                <a:latin typeface="Calibri"/>
              </a:rPr>
              <a:t>Incidente grave:</a:t>
            </a:r>
            <a:r>
              <a:rPr sz="1400" b="0">
                <a:solidFill>
                  <a:srgbClr val="1A1A1A"/>
                </a:solidFill>
                <a:latin typeface="Calibri"/>
              </a:rPr>
              <a:t> tráfego aéreo (21 inc. graves, </a:t>
            </a:r>
            <a:r>
              <a:rPr sz="1400" b="1">
                <a:solidFill>
                  <a:srgbClr val="1A1A1A"/>
                </a:solidFill>
                <a:latin typeface="Calibri"/>
              </a:rPr>
              <a:t>0 acidentes</a:t>
            </a:r>
            <a:r>
              <a:rPr sz="1400" b="0">
                <a:solidFill>
                  <a:srgbClr val="1A1A1A"/>
                </a:solidFill>
                <a:latin typeface="Calibri"/>
              </a:rPr>
              <a:t>) e pista, pouso e solo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Perfis diferentes ⇒ faz sentido manter as três classes separadas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F3B73"/>
                </a:solidFill>
                <a:latin typeface="Calibri"/>
              </a:rPr>
              <a:t>Resultados · Distribuição temporal: a cobertura mudou em 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2575" y="164592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Calibri"/>
              </a:rPr>
              <a:t>Parte 3 · Resultados parciais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18001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Previsão da severidade de ocorrências aeronáuticas na aviação comercial brasileira · Relatório parcial · RP2 EACH-USP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10/17</a:t>
            </a:r>
          </a:p>
        </p:txBody>
      </p:sp>
      <p:pic>
        <p:nvPicPr>
          <p:cNvPr id="7" name="Picture 6" descr="fig1_an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5280"/>
            <a:ext cx="6949440" cy="41503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234440"/>
            <a:ext cx="3870655" cy="498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2016–2022: 1.097 ocorrências; 2023–2026: </a:t>
            </a:r>
            <a:r>
              <a:rPr sz="1400" b="1">
                <a:solidFill>
                  <a:srgbClr val="1A1A1A"/>
                </a:solidFill>
                <a:latin typeface="Calibri"/>
              </a:rPr>
              <a:t>3.941</a:t>
            </a:r>
            <a:r>
              <a:rPr sz="1400" b="0">
                <a:solidFill>
                  <a:srgbClr val="1A1A1A"/>
                </a:solidFill>
                <a:latin typeface="Calibri"/>
              </a:rPr>
              <a:t> (pico de 1.582 em 2024)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O salto está na operação regular e nas colisões com fauna (1.462 só em 2023–24)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Acidentes e incidentes graves por ano </a:t>
            </a:r>
            <a:r>
              <a:rPr sz="1400" b="1">
                <a:solidFill>
                  <a:srgbClr val="1A1A1A"/>
                </a:solidFill>
                <a:latin typeface="Calibri"/>
              </a:rPr>
              <a:t>não crescem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Proporção de acidentes cai de 5,9% para 0,7%: mais notificação de incidentes, não menos risco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Por isso o </a:t>
            </a:r>
            <a:r>
              <a:rPr sz="1400" b="1">
                <a:solidFill>
                  <a:srgbClr val="1A1A1A"/>
                </a:solidFill>
                <a:latin typeface="Calibri"/>
              </a:rPr>
              <a:t>ano não é preditor</a:t>
            </a:r>
            <a:r>
              <a:rPr sz="1400" b="0">
                <a:solidFill>
                  <a:srgbClr val="1A1A1A"/>
                </a:solidFill>
                <a:latin typeface="Calibri"/>
              </a:rPr>
              <a:t> (só controle)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Figura 1. Ocorrências por ano e tipo de operação (acima) e incidentes graves e acidentes por ano (abaixo); 2016 e 2026 parciais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F3B73"/>
                </a:solidFill>
                <a:latin typeface="Calibri"/>
              </a:rPr>
              <a:t>Resultados · Distribuição geográfica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2575" y="164592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Calibri"/>
              </a:rPr>
              <a:t>Parte 3 · Resultados parciais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18001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Previsão da severidade de ocorrências aeronáuticas na aviação comercial brasileira · Relatório parcial · RP2 EACH-USP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11/17</a:t>
            </a:r>
          </a:p>
        </p:txBody>
      </p:sp>
      <p:pic>
        <p:nvPicPr>
          <p:cNvPr id="7" name="Picture 6" descr="fig2_regiao_lo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7780"/>
            <a:ext cx="7680960" cy="3093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19" y="1234440"/>
            <a:ext cx="3139136" cy="498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</a:t>
            </a:r>
            <a:r>
              <a:rPr sz="1400" b="1">
                <a:solidFill>
                  <a:srgbClr val="1A1A1A"/>
                </a:solidFill>
                <a:latin typeface="Calibri"/>
              </a:rPr>
              <a:t>Norte:</a:t>
            </a:r>
            <a:r>
              <a:rPr sz="1400" b="0">
                <a:solidFill>
                  <a:srgbClr val="1A1A1A"/>
                </a:solidFill>
                <a:latin typeface="Calibri"/>
              </a:rPr>
              <a:t> 10,5% das ocorrências, </a:t>
            </a:r>
            <a:r>
              <a:rPr sz="1400" b="1">
                <a:solidFill>
                  <a:srgbClr val="1A1A1A"/>
                </a:solidFill>
                <a:latin typeface="Calibri"/>
              </a:rPr>
              <a:t>44 dos 91 acidentes</a:t>
            </a:r>
            <a:r>
              <a:rPr sz="1400" b="0">
                <a:solidFill>
                  <a:srgbClr val="1A1A1A"/>
                </a:solidFill>
                <a:latin typeface="Calibri"/>
              </a:rPr>
              <a:t> (8,3%); 35% das suas ocorrências são táxi aéreo (13% no país)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Sudeste: metade das ocorrências, 0,8% de acidentes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</a:t>
            </a:r>
            <a:r>
              <a:rPr sz="1400" b="1">
                <a:solidFill>
                  <a:srgbClr val="1A1A1A"/>
                </a:solidFill>
                <a:latin typeface="Calibri"/>
              </a:rPr>
              <a:t>Local separa as classes graves:</a:t>
            </a:r>
            <a:r>
              <a:rPr sz="1400" b="0">
                <a:solidFill>
                  <a:srgbClr val="1A1A1A"/>
                </a:solidFill>
                <a:latin typeface="Calibri"/>
              </a:rPr>
              <a:t> aeródromos SB têm 57 dos 102 incidentes graves, mas só 0,33% de acidentes; </a:t>
            </a:r>
            <a:r>
              <a:rPr sz="1400" b="1">
                <a:solidFill>
                  <a:srgbClr val="1A1A1A"/>
                </a:solidFill>
                <a:latin typeface="Calibri"/>
              </a:rPr>
              <a:t>49 acidentes ocorreram fora de aeródromo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Preditores usados: região e grupo de local (203 aeródromos e 241 municípios são demais para 91 acidentes)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11094415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Figura 2. Incidentes graves e acidentes por 100 ocorrências segundo a região (a) e o local da ocorrência (b)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F3B73"/>
                </a:solidFill>
                <a:latin typeface="Calibri"/>
              </a:rPr>
              <a:t>Resultados · Balanceamento: o efeito depende do algoritmo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2575" y="164592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Calibri"/>
              </a:rPr>
              <a:t>Parte 3 · Modelos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18001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Previsão da severidade de ocorrências aeronáuticas na aviação comercial brasileira · Relatório parcial · RP2 EACH-USP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12/17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94411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2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1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2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2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2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20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20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Balanceamento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F1-macro CV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Sens. AC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Prec. AC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Sens. IG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Prec. IG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AUC AC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Regressão Logística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Nenhum†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0,556 ± 0,076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37,0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46,6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21,0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48,6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0,944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Pesos de classe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0,483 ± 0,013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71,2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17,7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48,1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14,9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0,931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SMOTENC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0,513 ± 0,022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64,4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22,8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49,4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16,2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0,931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SMOTENC + pesos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0,513 ± 0,022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64,4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22,8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49,4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16,2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0,931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Nenhum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0,575 ± 0,031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41,1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62,5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17,3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43,8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0,933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Pesos de classe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0,622 ± 0,020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63,0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43,4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37,0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37,5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0,953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SMOTENC†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0,623 ± 0,009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60,3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45,8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43,2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33,0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0,945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SMOTENC + pesos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0,623 ± 0,009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60,3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45,8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43,2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33,0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0,945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343400"/>
            <a:ext cx="11094415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</a:t>
            </a:r>
            <a:r>
              <a:rPr sz="1300" b="1">
                <a:solidFill>
                  <a:srgbClr val="1A1A1A"/>
                </a:solidFill>
                <a:latin typeface="Calibri"/>
              </a:rPr>
              <a:t>Regressão Logística:</a:t>
            </a:r>
            <a:r>
              <a:rPr sz="1300" b="0">
                <a:solidFill>
                  <a:srgbClr val="1A1A1A"/>
                </a:solidFill>
                <a:latin typeface="Calibri"/>
              </a:rPr>
              <a:t> sem balanceamento tem o maior F1-macro (0,556), mas detecta só 37% dos acidentes; com pesos detecta 71%, mas a precisão cai para 18%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</a:t>
            </a:r>
            <a:r>
              <a:rPr sz="1300" b="1">
                <a:solidFill>
                  <a:srgbClr val="1A1A1A"/>
                </a:solidFill>
                <a:latin typeface="Calibri"/>
              </a:rPr>
              <a:t>Random Forest:</a:t>
            </a:r>
            <a:r>
              <a:rPr sz="1300" b="0">
                <a:solidFill>
                  <a:srgbClr val="1A1A1A"/>
                </a:solidFill>
                <a:latin typeface="Calibri"/>
              </a:rPr>
              <a:t> pesos e SMOTENC empatam (0,62) e levam a sensibilidade de 41% para 60–63% mantendo precisão de ~45%; SMOTENC escolhido pela menor variância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</a:t>
            </a:r>
            <a:r>
              <a:rPr sz="1300" b="1">
                <a:solidFill>
                  <a:srgbClr val="1A1A1A"/>
                </a:solidFill>
                <a:latin typeface="Calibri"/>
              </a:rPr>
              <a:t>SMOTENC + pesos = SMOTENC:</a:t>
            </a:r>
            <a:r>
              <a:rPr sz="1300" b="0">
                <a:solidFill>
                  <a:srgbClr val="1A1A1A"/>
                </a:solidFill>
                <a:latin typeface="Calibri"/>
              </a:rPr>
              <a:t> após igualar as classes, os pesos balanceados ficam todos iguais a 1 (verificação da redundância)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44768"/>
            <a:ext cx="11094415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Tabela 5. F1-macro na validação cruzada (média ± desvio-padrão) e métricas out-of-fold, em %; † configuração selecionada; AC = acidente, IG = incidente grave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F3B73"/>
                </a:solidFill>
                <a:latin typeface="Calibri"/>
              </a:rPr>
              <a:t>Resultados · Desempenho dos modelos e dos baselines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2575" y="164592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Calibri"/>
              </a:rPr>
              <a:t>Parte 3 · Modelos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18001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Previsão da severidade de ocorrências aeronáuticas na aviação comercial brasileira · Relatório parcial · RP2 EACH-USP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13/17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9441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5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5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5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96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96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05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Sens. AC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Prec. AC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Sens. IG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Prec. IG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Sens. INC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F1-macro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Acur. bal.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AUC AC</a:t>
                      </a:r>
                    </a:p>
                  </a:txBody>
                  <a:tcPr marL="54864" marR="54864" marT="18288" marB="18288" anchor="ctr"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 gridSpan="9">
                  <a:txBody>
                    <a:bodyPr/>
                    <a:lstStyle/>
                    <a:p>
                      <a:pPr algn="l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Validação cruzada no treino (73 acidentes, 81 incidentes graves)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Classe majoritária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100,0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0,327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0,333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Regra pelo tipo de operação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86,3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10,7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87,7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0,373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0,580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Regressão Logística (Nenhum)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37,0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46,6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21,0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48,6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99,3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0,563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0,524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0,944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Random Forest (SMOTENC)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60,3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45,8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43,2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33,0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97,2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0,624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0,669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0,945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 gridSpan="9">
                  <a:txBody>
                    <a:bodyPr/>
                    <a:lstStyle/>
                    <a:p>
                      <a:pPr algn="l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Teste (18 acidentes, 21 incidentes graves)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Classe majoritária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0,327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0,333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Regra pelo tipo de operação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88,9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10,8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87,4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0,373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0,588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Regressão Logística (Nenhum)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55,6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55,6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99,4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0,560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0,548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0,981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Random Forest (SMOTENC)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61,1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45,8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38,1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28,6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97,1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0,609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0,654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0,973</a:t>
                      </a:r>
                    </a:p>
                  </a:txBody>
                  <a:tcPr marL="54864" marR="54864" marT="18288" marB="18288" anchor="ctr">
                    <a:solidFill>
                      <a:srgbClr val="FDE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389120"/>
            <a:ext cx="11094415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</a:t>
            </a:r>
            <a:r>
              <a:rPr sz="1300" b="1">
                <a:solidFill>
                  <a:srgbClr val="1A1A1A"/>
                </a:solidFill>
                <a:latin typeface="Calibri"/>
              </a:rPr>
              <a:t>Baselines:</a:t>
            </a:r>
            <a:r>
              <a:rPr sz="1300" b="0">
                <a:solidFill>
                  <a:srgbClr val="1A1A1A"/>
                </a:solidFill>
                <a:latin typeface="Calibri"/>
              </a:rPr>
              <a:t> a classe majoritária acerta 96,2% e não detecta nenhuma ocorrência grave; a regra pelo tipo de operação acha 86% dos acidentes com precisão de 10,7% (F1 = 0,19) e nenhum incidente grave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</a:t>
            </a:r>
            <a:r>
              <a:rPr sz="1300" b="1">
                <a:solidFill>
                  <a:srgbClr val="1A1A1A"/>
                </a:solidFill>
                <a:latin typeface="Calibri"/>
              </a:rPr>
              <a:t>Random Forest + SMOTENC:</a:t>
            </a:r>
            <a:r>
              <a:rPr sz="1300" b="0">
                <a:solidFill>
                  <a:srgbClr val="1A1A1A"/>
                </a:solidFill>
                <a:latin typeface="Calibri"/>
              </a:rPr>
              <a:t> 44 dos 73 acidentes (60%) com precisão de 46% e 35 dos 81 incidentes graves (43%); F1-macro </a:t>
            </a:r>
            <a:r>
              <a:rPr sz="1300" b="1">
                <a:solidFill>
                  <a:srgbClr val="1A1A1A"/>
                </a:solidFill>
                <a:latin typeface="Calibri"/>
              </a:rPr>
              <a:t>0,624</a:t>
            </a:r>
            <a:r>
              <a:rPr sz="1300" b="0">
                <a:solidFill>
                  <a:srgbClr val="1A1A1A"/>
                </a:solidFill>
                <a:latin typeface="Calibri"/>
              </a:rPr>
              <a:t>. Regressão Logística: 37% e 21%, F1-macro 0,563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</a:t>
            </a:r>
            <a:r>
              <a:rPr sz="1300" b="1">
                <a:solidFill>
                  <a:srgbClr val="1A1A1A"/>
                </a:solidFill>
                <a:latin typeface="Calibri"/>
              </a:rPr>
              <a:t>Teste confirma a ordem:</a:t>
            </a:r>
            <a:r>
              <a:rPr sz="1300" b="0">
                <a:solidFill>
                  <a:srgbClr val="1A1A1A"/>
                </a:solidFill>
                <a:latin typeface="Calibri"/>
              </a:rPr>
              <a:t> RF 11/18 acidentes e 8/21 inc. graves (F1-macro 0,609); LR 10 e 2 (0,560). AUC acidente no teste 0,97–0,98 (variância de 18 casos)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44768"/>
            <a:ext cx="11094415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Tabela 6. Predições out-of-fold no treino (73 acidentes, 81 inc. graves) e teste (18 e 21); sensibilidade e precisão em %; AC = acidente, IG = incidente grave, INC = incidente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F3B73"/>
                </a:solidFill>
                <a:latin typeface="Calibri"/>
              </a:rPr>
              <a:t>Resultados · Onde os modelos erram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2575" y="164592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Calibri"/>
              </a:rPr>
              <a:t>Parte 3 · Modelos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18001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Previsão da severidade de ocorrências aeronáuticas na aviação comercial brasileira · Relatório parcial · RP2 EACH-USP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14/17</a:t>
            </a:r>
          </a:p>
        </p:txBody>
      </p:sp>
      <p:pic>
        <p:nvPicPr>
          <p:cNvPr id="7" name="Picture 6" descr="fig3_confus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2060"/>
            <a:ext cx="7863840" cy="3276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0" y="1234440"/>
            <a:ext cx="2956255" cy="498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</a:t>
            </a:r>
            <a:r>
              <a:rPr sz="1400" b="1">
                <a:solidFill>
                  <a:srgbClr val="1A1A1A"/>
                </a:solidFill>
                <a:latin typeface="Calibri"/>
              </a:rPr>
              <a:t>Random Forest:</a:t>
            </a:r>
            <a:r>
              <a:rPr sz="1400" b="0">
                <a:solidFill>
                  <a:srgbClr val="1A1A1A"/>
                </a:solidFill>
                <a:latin typeface="Calibri"/>
              </a:rPr>
              <a:t> acidentes perdidos vão para 'incidente' (23) e raramente para 'inc. grave' (6); 42 incidentes previstos como acidente e 65 como graves (2,8% dos incidentes)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Incidentes graves não detectados dividem-se entre incidente (36) e acidente (10)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</a:t>
            </a:r>
            <a:r>
              <a:rPr sz="1400" b="1">
                <a:solidFill>
                  <a:srgbClr val="1A1A1A"/>
                </a:solidFill>
                <a:latin typeface="Calibri"/>
              </a:rPr>
              <a:t>Regressão Logística</a:t>
            </a:r>
            <a:r>
              <a:rPr sz="1400" b="0">
                <a:solidFill>
                  <a:srgbClr val="1A1A1A"/>
                </a:solidFill>
                <a:latin typeface="Calibri"/>
              </a:rPr>
              <a:t> quase não prevê 'incidente grave' (35 predições em 4.030): é a classe de sinal mais fraco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17720"/>
            <a:ext cx="11094415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Figura 3. Matrizes de confusão das predições out-of-fold no treino (contagem e percentual da linha)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F3B73"/>
                </a:solidFill>
                <a:latin typeface="Calibri"/>
              </a:rPr>
              <a:t>Resultados · Independente do limiar: ROC e precisão-sensibilidade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2575" y="164592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Calibri"/>
              </a:rPr>
              <a:t>Parte 3 · Modelos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18001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Previsão da severidade de ocorrências aeronáuticas na aviação comercial brasileira · Relatório parcial · RP2 EACH-USP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15/17</a:t>
            </a:r>
          </a:p>
        </p:txBody>
      </p:sp>
      <p:pic>
        <p:nvPicPr>
          <p:cNvPr id="7" name="Picture 6" descr="fig4_curv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2060"/>
            <a:ext cx="7863840" cy="3276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0" y="1234440"/>
            <a:ext cx="2956255" cy="498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</a:t>
            </a:r>
            <a:r>
              <a:rPr sz="1300" b="1">
                <a:solidFill>
                  <a:srgbClr val="1A1A1A"/>
                </a:solidFill>
                <a:latin typeface="Calibri"/>
              </a:rPr>
              <a:t>Acidente:</a:t>
            </a:r>
            <a:r>
              <a:rPr sz="1300" b="0">
                <a:solidFill>
                  <a:srgbClr val="1A1A1A"/>
                </a:solidFill>
                <a:latin typeface="Calibri"/>
              </a:rPr>
              <a:t> AUC 0,94 nos dois modelos; precisão média 0,41–0,44, cerca de </a:t>
            </a:r>
            <a:r>
              <a:rPr sz="1300" b="1">
                <a:solidFill>
                  <a:srgbClr val="1A1A1A"/>
                </a:solidFill>
                <a:latin typeface="Calibri"/>
              </a:rPr>
              <a:t>24× a prevalência</a:t>
            </a:r>
            <a:r>
              <a:rPr sz="1300" b="0">
                <a:solidFill>
                  <a:srgbClr val="1A1A1A"/>
                </a:solidFill>
                <a:latin typeface="Calibri"/>
              </a:rPr>
              <a:t> (1,8%)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</a:t>
            </a:r>
            <a:r>
              <a:rPr sz="1300" b="1">
                <a:solidFill>
                  <a:srgbClr val="1A1A1A"/>
                </a:solidFill>
                <a:latin typeface="Calibri"/>
              </a:rPr>
              <a:t>Incidente grave:</a:t>
            </a:r>
            <a:r>
              <a:rPr sz="1300" b="0">
                <a:solidFill>
                  <a:srgbClr val="1A1A1A"/>
                </a:solidFill>
                <a:latin typeface="Calibri"/>
              </a:rPr>
              <a:t> AUC 0,85–0,88, precisão média 0,23–0,33: a classe mais difícil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O losango é a regra pelo tipo de operação. </a:t>
            </a:r>
            <a:r>
              <a:rPr sz="1300" b="1">
                <a:solidFill>
                  <a:srgbClr val="1A1A1A"/>
                </a:solidFill>
                <a:latin typeface="Calibri"/>
              </a:rPr>
              <a:t>Na mesma sensibilidade (86%)</a:t>
            </a:r>
            <a:r>
              <a:rPr sz="1300" b="0">
                <a:solidFill>
                  <a:srgbClr val="1A1A1A"/>
                </a:solidFill>
                <a:latin typeface="Calibri"/>
              </a:rPr>
              <a:t>, os modelos chegam a 14–17% de precisão contra 10,7%: ganho real, mas modesto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A vantagem está na faixa intermediária: RF com 45–70% de precisão para 40–65% de sensibilidade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17720"/>
            <a:ext cx="11094415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Figura 4. Curvas ROC (a) e precisão-sensibilidade (b) um-contra-resto, predições out-of-fold; o losango marca a regra pelo tipo de operação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F3B73"/>
                </a:solidFill>
                <a:latin typeface="Calibri"/>
              </a:rPr>
              <a:t>Resultados · O que os modelos aprenderam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2575" y="164592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Calibri"/>
              </a:rPr>
              <a:t>Parte 3 · Modelos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18001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Previsão da severidade de ocorrências aeronáuticas na aviação comercial brasileira · Relatório parcial · RP2 EACH-USP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16/17</a:t>
            </a:r>
          </a:p>
        </p:txBody>
      </p:sp>
      <p:pic>
        <p:nvPicPr>
          <p:cNvPr id="7" name="Picture 6" descr="fig5_importanc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1234440"/>
            <a:ext cx="7498077" cy="37490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1234440"/>
            <a:ext cx="3322015" cy="498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</a:t>
            </a:r>
            <a:r>
              <a:rPr sz="1300" b="1">
                <a:solidFill>
                  <a:srgbClr val="1A1A1A"/>
                </a:solidFill>
                <a:latin typeface="Calibri"/>
              </a:rPr>
              <a:t>Random Forest:</a:t>
            </a:r>
            <a:r>
              <a:rPr sz="1300" b="0">
                <a:solidFill>
                  <a:srgbClr val="1A1A1A"/>
                </a:solidFill>
                <a:latin typeface="Calibri"/>
              </a:rPr>
              <a:t> tipo de operação, peso da aeronave, fase do voo, local e categoria do tipo são os mais importantes; mês, dia, hora e assentos têm importância ~0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</a:t>
            </a:r>
            <a:r>
              <a:rPr sz="1300" b="1">
                <a:solidFill>
                  <a:srgbClr val="1A1A1A"/>
                </a:solidFill>
                <a:latin typeface="Calibri"/>
              </a:rPr>
              <a:t>Regressão Logística</a:t>
            </a:r>
            <a:r>
              <a:rPr sz="1300" b="0">
                <a:solidFill>
                  <a:srgbClr val="1A1A1A"/>
                </a:solidFill>
                <a:latin typeface="Calibri"/>
              </a:rPr>
              <a:t> (chance de acidente vs. incidente): perda de controle em voo (~10³, só 20 casos), Robinson (58×), turboeixo (48×), fora de aeródromo (26×), táxi aéreo e não regular (15×), Norte (13×)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Cessna, Sikorsky e Embraer aparecem com chance </a:t>
            </a:r>
            <a:r>
              <a:rPr sz="1300" b="1">
                <a:solidFill>
                  <a:srgbClr val="1A1A1A"/>
                </a:solidFill>
                <a:latin typeface="Calibri"/>
              </a:rPr>
              <a:t>menor</a:t>
            </a:r>
            <a:r>
              <a:rPr sz="1300" b="0">
                <a:solidFill>
                  <a:srgbClr val="1A1A1A"/>
                </a:solidFill>
                <a:latin typeface="Calibri"/>
              </a:rPr>
              <a:t> que Airbus apesar de taxas maiores: é a </a:t>
            </a:r>
            <a:r>
              <a:rPr sz="1300" b="1">
                <a:solidFill>
                  <a:srgbClr val="1A1A1A"/>
                </a:solidFill>
                <a:latin typeface="Calibri"/>
              </a:rPr>
              <a:t>colinearidade</a:t>
            </a:r>
            <a:r>
              <a:rPr sz="1300" b="0">
                <a:solidFill>
                  <a:srgbClr val="1A1A1A"/>
                </a:solidFill>
                <a:latin typeface="Calibri"/>
              </a:rPr>
              <a:t> com operação, motor e peso; coeficientes devem ser lidos em conjunto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74920"/>
            <a:ext cx="11094415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Figura 5. (a) Contrastes de log da razão de chances (acidente vs. incidente) na Regressão Logística; (b) importância por permutação no Random Forest (queda da AUC no teste)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F3B73"/>
                </a:solidFill>
                <a:latin typeface="Calibri"/>
              </a:rPr>
              <a:t>Discussão, limitações e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2575" y="164592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Calibri"/>
              </a:rPr>
              <a:t>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18001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Previsão da severidade de ocorrências aeronáuticas na aviação comercial brasileira · Relatório parcial · RP2 EACH-USP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17/17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577840" cy="498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O que foi feito:</a:t>
            </a:r>
            <a:r>
              <a:rPr sz="1500" b="0">
                <a:solidFill>
                  <a:srgbClr val="1A1A1A"/>
                </a:solidFill>
                <a:latin typeface="Calibri"/>
              </a:rPr>
              <a:t> base de 5.038 ocorrências; alvo em três classes; exclusão dos atributos pós-investigação; dois algoritmos × quatro balanceamentos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Melhor modelo:</a:t>
            </a:r>
            <a:r>
              <a:rPr sz="1500" b="0">
                <a:solidFill>
                  <a:srgbClr val="1A1A1A"/>
                </a:solidFill>
                <a:latin typeface="Calibri"/>
              </a:rPr>
              <a:t> Random Forest + SMOTENC, F1-macro 0,62; 60% dos acidentes e 43% dos incidentes graves fora da amostra, confirmado no teste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Regressão Logística:</a:t>
            </a:r>
            <a:r>
              <a:rPr sz="1500" b="0">
                <a:solidFill>
                  <a:srgbClr val="1A1A1A"/>
                </a:solidFill>
                <a:latin typeface="Calibri"/>
              </a:rPr>
              <a:t> 0,56; fraca para incidente grave, útil para interpretar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Leitura honesta:</a:t>
            </a:r>
            <a:r>
              <a:rPr sz="1500" b="0">
                <a:solidFill>
                  <a:srgbClr val="1A1A1A"/>
                </a:solidFill>
                <a:latin typeface="Calibri"/>
              </a:rPr>
              <a:t> ambos batem os baselines em F1, mas na sensibilidade da regra o ganho de precisão é modesto; incidente grave é a classe difícil (AUC 0,85–0,88)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5242255" cy="498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Limitações:</a:t>
            </a:r>
            <a:r>
              <a:rPr sz="1500" b="0">
                <a:solidFill>
                  <a:srgbClr val="1A1A1A"/>
                </a:solidFill>
                <a:latin typeface="Calibri"/>
              </a:rPr>
              <a:t> 73 + 18 acidentes ⇒ variância alta; categoria do tipo descreve parte do desfecho; cobertura mudou em 2023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Próximos passos até o relatório final: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      –  ajustar o limiar de decisão por custo (sensibilidade ≥ 80% para acidentes)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      –  remover atributos de calendário; testar codificação pelo alvo de aeródromo e tipo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      –  ablação da categoria do tipo; validação por período (treino ≤ 2022, teste ≥ 2023)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      –  intervalos de confiança por validação cruzada repetida; calibração das probabilidades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Código, base e artigo: </a:t>
            </a:r>
            <a:r>
              <a:rPr sz="1500" b="1">
                <a:solidFill>
                  <a:srgbClr val="1A1A1A"/>
                </a:solidFill>
                <a:latin typeface="Calibri"/>
              </a:rPr>
              <a:t>github.com/Fontanezi/RP2_ARTIGO_2026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4147</Words>
  <Application>Microsoft Macintosh PowerPoint</Application>
  <PresentationFormat>Widescreen</PresentationFormat>
  <Paragraphs>559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Fontanezi, Joao</cp:lastModifiedBy>
  <cp:revision>2</cp:revision>
  <dcterms:created xsi:type="dcterms:W3CDTF">2013-01-27T09:14:16Z</dcterms:created>
  <dcterms:modified xsi:type="dcterms:W3CDTF">2026-10-24T14:17:22Z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2026-10-24T14:17:22Z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6ce28c84-a2b7-4cc5-9038-b528f6e061f9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